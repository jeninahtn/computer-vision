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3" r:id="rId9"/>
    <p:sldId id="264" r:id="rId10"/>
    <p:sldId id="265" r:id="rId11"/>
    <p:sldId id="266" r:id="rId12"/>
    <p:sldId id="271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4cb964c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64cb964c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64cb964c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64cb964c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4cb964c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64cb964c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64cb964c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64cb964c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64cb964c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64cb964cb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64cb964cb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64cb964cb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4cb964c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4cb964cb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4cb964c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4cb964cb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55478"/>
            <a:ext cx="8204971" cy="19454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Celebrity Faces Recognition &amp; Feature Extraction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328530"/>
            <a:ext cx="8520600" cy="25594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dirty="0"/>
              <a:t>CSC 63106 – Artificial Intelligence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dirty="0"/>
              <a:t>Week 8 Practical: Computer Vision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dirty="0"/>
              <a:t>Group 3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Members: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dirty="0" err="1">
                <a:solidFill>
                  <a:schemeClr val="tx1"/>
                </a:solidFill>
              </a:rPr>
              <a:t>Tusiime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Jeninah</a:t>
            </a:r>
            <a:endParaRPr lang="en-US" dirty="0">
              <a:solidFill>
                <a:schemeClr val="tx1"/>
              </a:solidFill>
            </a:endParaRP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dirty="0" err="1">
                <a:solidFill>
                  <a:schemeClr val="tx1"/>
                </a:solidFill>
              </a:rPr>
              <a:t>Kijjibo</a:t>
            </a:r>
            <a:r>
              <a:rPr lang="en-US" dirty="0">
                <a:solidFill>
                  <a:schemeClr val="tx1"/>
                </a:solidFill>
              </a:rPr>
              <a:t> Adrian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dirty="0" err="1">
                <a:solidFill>
                  <a:schemeClr val="tx1"/>
                </a:solidFill>
              </a:rPr>
              <a:t>Obong</a:t>
            </a:r>
            <a:r>
              <a:rPr lang="en-US" dirty="0">
                <a:solidFill>
                  <a:schemeClr val="tx1"/>
                </a:solidFill>
              </a:rPr>
              <a:t> Joseph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dirty="0" err="1">
                <a:solidFill>
                  <a:schemeClr val="tx1"/>
                </a:solidFill>
              </a:rPr>
              <a:t>Muhereza</a:t>
            </a:r>
            <a:r>
              <a:rPr lang="en-US" dirty="0">
                <a:solidFill>
                  <a:schemeClr val="tx1"/>
                </a:solidFill>
              </a:rPr>
              <a:t> Emmanuel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- Asiimwe Horace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dirty="0" err="1">
                <a:solidFill>
                  <a:schemeClr val="tx1"/>
                </a:solidFill>
              </a:rPr>
              <a:t>Masaaba</a:t>
            </a:r>
            <a:r>
              <a:rPr lang="en-US" dirty="0">
                <a:solidFill>
                  <a:schemeClr val="tx1"/>
                </a:solidFill>
              </a:rPr>
              <a:t> Evans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200" dirty="0"/>
              <a:t>Objective: Compare Classical &amp; Deep Learning Face Recognition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200" dirty="0"/>
              <a:t>Dataset: CelebA (Celebrity Faces Attributes)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200" dirty="0"/>
              <a:t>  • 200,000+ celebrity images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200" dirty="0"/>
              <a:t>  • Diverse lighting, poses, and expressions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200" dirty="0"/>
              <a:t>  • Identity labels for supervised learning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200" dirty="0"/>
              <a:t>Two-Part Approach: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200" dirty="0"/>
              <a:t>  Part A: Classical Methods (OpenCV + HOG)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200" dirty="0"/>
              <a:t>  Part B: Deep Learning (MobileNetV2 Embeddings)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D8618-133F-737A-641B-4447C192E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005" y="1499191"/>
            <a:ext cx="4965405" cy="21690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A: Load Images &amp; Face Detection (Q24)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739690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</a:rPr>
              <a:t>Loading CelebA Dataset:</a:t>
            </a:r>
            <a:endParaRPr sz="2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</a:rPr>
              <a:t>  DATASET_PATH = './img_align_celeba/'</a:t>
            </a:r>
            <a:endParaRPr sz="2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</a:rPr>
              <a:t>  labels_df = pd.read_csv(LABELS_PATH)</a:t>
            </a:r>
            <a:endParaRPr sz="2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</a:rPr>
              <a:t>  sample_df = labels_df.sample(n=30)</a:t>
            </a:r>
            <a:endParaRPr sz="2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</a:rPr>
              <a:t>Face Detection with Haar Cascade:</a:t>
            </a:r>
            <a:endParaRPr sz="2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</a:rPr>
              <a:t>  face_cascade = cv2.CascadeClassifier(</a:t>
            </a:r>
            <a:endParaRPr sz="2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</a:rPr>
              <a:t>      'haarcascade_frontalface_default.xml')</a:t>
            </a:r>
            <a:endParaRPr sz="2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2000" dirty="0">
                <a:solidFill>
                  <a:srgbClr val="002060"/>
                </a:solidFill>
              </a:rPr>
              <a:t>  faces = face_cascade.detectMultiScale(gray, 1.1, 5)</a:t>
            </a:r>
            <a:endParaRPr sz="2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3800" dirty="0">
                <a:solidFill>
                  <a:schemeClr val="tx1"/>
                </a:solidFill>
              </a:rPr>
              <a:t>✓ Scans images for face-like patterns</a:t>
            </a:r>
            <a:endParaRPr sz="3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3800" dirty="0">
                <a:solidFill>
                  <a:schemeClr val="tx1"/>
                </a:solidFill>
              </a:rPr>
              <a:t>✓ Returns bounding box coordinates (x, y, w, h)</a:t>
            </a:r>
            <a:endParaRPr sz="3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3800" dirty="0">
                <a:solidFill>
                  <a:schemeClr val="tx1"/>
                </a:solidFill>
              </a:rPr>
              <a:t>✓ Success rate: 93% (28/30 images)</a:t>
            </a:r>
            <a:endParaRPr sz="3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A: Crop &amp; Convert to Grayscale (Q25)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rgbClr val="002060"/>
                </a:solidFill>
              </a:rPr>
              <a:t>Face Cropping &amp; Grayscale Conversion:</a:t>
            </a:r>
            <a:endParaRPr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rgbClr val="002060"/>
                </a:solidFill>
              </a:rPr>
              <a:t>def detect_and_crop_face(img_path):</a:t>
            </a:r>
            <a:endParaRPr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rgbClr val="002060"/>
                </a:solidFill>
              </a:rPr>
              <a:t>    gray = cv2.cvtColor(img, CV2.COLOR_BGR2GRAY)</a:t>
            </a:r>
            <a:endParaRPr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rgbClr val="002060"/>
                </a:solidFill>
              </a:rPr>
              <a:t>    face = gray[y:y+h, x:x+w]  # Crop region</a:t>
            </a:r>
            <a:endParaRPr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tx1"/>
                </a:solidFill>
              </a:rPr>
              <a:t>Why Grayscale?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tx1"/>
                </a:solidFill>
              </a:rPr>
              <a:t>  • Reduces data: 3 channels → 1 channel (66% reduction)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tx1"/>
                </a:solidFill>
              </a:rPr>
              <a:t>  • Focuses on structure, not color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tx1"/>
                </a:solidFill>
              </a:rPr>
              <a:t>  • HOG requires grayscale intensity gradients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tx1"/>
                </a:solidFill>
              </a:rPr>
              <a:t>  • Faster computation, less memory usage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A: Compute HOG Features (Q26)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1744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chemeClr val="tx1"/>
                </a:solidFill>
              </a:rPr>
              <a:t>HOG (Histogram of Oriented Gradients):</a:t>
            </a:r>
            <a:endParaRPr sz="40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chemeClr val="tx1"/>
                </a:solidFill>
              </a:rPr>
              <a:t>Captures object structure by analyzing edge orientations</a:t>
            </a:r>
            <a:endParaRPr sz="40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chemeClr val="tx1"/>
                </a:solidFill>
              </a:rPr>
              <a:t>Implementation:</a:t>
            </a:r>
            <a:endParaRPr sz="40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rgbClr val="002060"/>
                </a:solidFill>
              </a:rPr>
              <a:t>  from skimage.feature import hog</a:t>
            </a:r>
            <a:endParaRPr sz="4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rgbClr val="002060"/>
                </a:solidFill>
              </a:rPr>
              <a:t>  face_resized = cv2.resize(face, (64, 128))</a:t>
            </a:r>
            <a:endParaRPr sz="4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rgbClr val="002060"/>
                </a:solidFill>
              </a:rPr>
              <a:t>  features, hog_image = hog(</a:t>
            </a:r>
            <a:endParaRPr sz="4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rgbClr val="002060"/>
                </a:solidFill>
              </a:rPr>
              <a:t>      face_resized,</a:t>
            </a:r>
            <a:endParaRPr sz="4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rgbClr val="002060"/>
                </a:solidFill>
              </a:rPr>
              <a:t>      orientations=9,</a:t>
            </a:r>
            <a:endParaRPr sz="4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rgbClr val="002060"/>
                </a:solidFill>
              </a:rPr>
              <a:t>      pixels_per_cell=(8, 8),</a:t>
            </a:r>
            <a:endParaRPr sz="4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rgbClr val="002060"/>
                </a:solidFill>
              </a:rPr>
              <a:t>      visualize=True</a:t>
            </a:r>
            <a:endParaRPr sz="4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000" dirty="0">
                <a:solidFill>
                  <a:srgbClr val="002060"/>
                </a:solidFill>
              </a:rPr>
              <a:t>  )</a:t>
            </a:r>
            <a:endParaRPr sz="40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800" dirty="0">
                <a:solidFill>
                  <a:schemeClr val="tx1"/>
                </a:solidFill>
              </a:rPr>
              <a:t>Result: 3780-dimensional feature vector</a:t>
            </a:r>
            <a:endParaRPr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4D7E-1FD7-1BEB-76B8-52EA8BF01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" dirty="0"/>
              <a:t>Part A: Landmarks &amp; Variations (Q27 &amp; Q28)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EEECE-B28F-1268-CA9A-AF12AE8FC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3220" y="364337"/>
            <a:ext cx="3367167" cy="1940399"/>
          </a:xfrm>
        </p:spPr>
        <p:txBody>
          <a:bodyPr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Facial Landmarks (68-point model):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• Jawline: Points 1-17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• Eyebrows: Points 18-27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• Nose: Points 28-36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• Eyes: Points 37-48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• Mouth: Points 49-68</a:t>
            </a:r>
          </a:p>
          <a:p>
            <a:pPr marL="139700" indent="0">
              <a:buNone/>
            </a:pP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64F09-F442-51E9-1F65-CDA112B92B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084864" y="286351"/>
            <a:ext cx="4282960" cy="2018386"/>
          </a:xfrm>
        </p:spPr>
        <p:txBody>
          <a:bodyPr>
            <a:normAutofit fontScale="85000"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Impact of Variations: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  Lighting: Shadows create false edges in HOG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  Pose: Profile views (&gt;45°) fail detection (30-50% success)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  Expression: Changes mouth/eye patterns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   Classical methods require controlled conditions</a:t>
            </a:r>
          </a:p>
          <a:p>
            <a:pPr marL="139700" indent="0">
              <a:buNone/>
            </a:pP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FB878-B0CC-DD9F-BE1D-BF703442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385" y="2304736"/>
            <a:ext cx="5672471" cy="283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89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6F944-4A37-1A3D-66B9-5427E14A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Part B: MobileNetV2 Embeddings (Q29)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EF0F6-A110-F8A7-6B6B-E3FF83488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377258" cy="3416400"/>
          </a:xfrm>
        </p:spPr>
        <p:txBody>
          <a:bodyPr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2800" dirty="0">
                <a:solidFill>
                  <a:schemeClr val="tx1"/>
                </a:solidFill>
              </a:rPr>
              <a:t>Deep Learning Feature Extraction: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 err="1">
                <a:solidFill>
                  <a:srgbClr val="002060"/>
                </a:solidFill>
              </a:rPr>
              <a:t>base_model</a:t>
            </a:r>
            <a:r>
              <a:rPr lang="en-US" sz="1400" dirty="0">
                <a:solidFill>
                  <a:srgbClr val="002060"/>
                </a:solidFill>
              </a:rPr>
              <a:t> = MobileNetV2(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rgbClr val="002060"/>
                </a:solidFill>
              </a:rPr>
              <a:t>    weights='</a:t>
            </a:r>
            <a:r>
              <a:rPr lang="en-US" sz="1400" dirty="0" err="1">
                <a:solidFill>
                  <a:srgbClr val="002060"/>
                </a:solidFill>
              </a:rPr>
              <a:t>imagenet</a:t>
            </a:r>
            <a:r>
              <a:rPr lang="en-US" sz="1400" dirty="0">
                <a:solidFill>
                  <a:srgbClr val="002060"/>
                </a:solidFill>
              </a:rPr>
              <a:t>',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rgbClr val="002060"/>
                </a:solidFill>
              </a:rPr>
              <a:t>    </a:t>
            </a:r>
            <a:r>
              <a:rPr lang="en-US" sz="1400" dirty="0" err="1">
                <a:solidFill>
                  <a:srgbClr val="002060"/>
                </a:solidFill>
              </a:rPr>
              <a:t>include_top</a:t>
            </a:r>
            <a:r>
              <a:rPr lang="en-US" sz="1400" dirty="0">
                <a:solidFill>
                  <a:srgbClr val="002060"/>
                </a:solidFill>
              </a:rPr>
              <a:t>=False,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rgbClr val="002060"/>
                </a:solidFill>
              </a:rPr>
              <a:t>    pooling='avg',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rgbClr val="002060"/>
                </a:solidFill>
              </a:rPr>
              <a:t>    </a:t>
            </a:r>
            <a:r>
              <a:rPr lang="en-US" sz="1400" dirty="0" err="1">
                <a:solidFill>
                  <a:srgbClr val="002060"/>
                </a:solidFill>
              </a:rPr>
              <a:t>input_shape</a:t>
            </a:r>
            <a:r>
              <a:rPr lang="en-US" sz="1400" dirty="0">
                <a:solidFill>
                  <a:srgbClr val="002060"/>
                </a:solidFill>
              </a:rPr>
              <a:t>=(160, 160, 3)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rgbClr val="002060"/>
                </a:solidFill>
              </a:rPr>
              <a:t>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rgbClr val="002060"/>
                </a:solidFill>
              </a:rPr>
              <a:t>embedding = </a:t>
            </a:r>
            <a:r>
              <a:rPr lang="en-US" sz="1400" dirty="0" err="1">
                <a:solidFill>
                  <a:srgbClr val="002060"/>
                </a:solidFill>
              </a:rPr>
              <a:t>feature_model.predict</a:t>
            </a:r>
            <a:r>
              <a:rPr lang="en-US" sz="1400" dirty="0">
                <a:solidFill>
                  <a:srgbClr val="002060"/>
                </a:solidFill>
              </a:rPr>
              <a:t>(</a:t>
            </a:r>
            <a:r>
              <a:rPr lang="en-US" sz="1400" dirty="0" err="1">
                <a:solidFill>
                  <a:srgbClr val="002060"/>
                </a:solidFill>
              </a:rPr>
              <a:t>face_img</a:t>
            </a:r>
            <a:r>
              <a:rPr lang="en-US" sz="1400" dirty="0">
                <a:solidFill>
                  <a:srgbClr val="002060"/>
                </a:solidFill>
              </a:rPr>
              <a:t>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# Output: 1280-dimensional vector</a:t>
            </a:r>
          </a:p>
          <a:p>
            <a:pPr marL="139700" indent="0">
              <a:buNone/>
            </a:pP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5DCA2-F280-D32E-9BD8-99DC9774565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Why MobileNetV2?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  ✓ Pre-trained on 1.2M ImageNet images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  ✓ Lightweight: 3.4M parameters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  ✓ Fast inference: ~30ms per face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tx1"/>
                </a:solidFill>
              </a:rPr>
              <a:t>  ✓ Robust to lighting, pose, expression</a:t>
            </a:r>
          </a:p>
          <a:p>
            <a:pPr marL="13970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5906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B: Train Classifier on Embeddings (Q30)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300" b="1" dirty="0">
                <a:solidFill>
                  <a:schemeClr val="tx1"/>
                </a:solidFill>
              </a:rPr>
              <a:t>Two-Stage Approach: Embeddings + Classifier</a:t>
            </a:r>
            <a:endParaRPr sz="4300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400" dirty="0">
                <a:solidFill>
                  <a:srgbClr val="002060"/>
                </a:solidFill>
              </a:rPr>
              <a:t>X_train_emb = [get_embedding(img) for img in X_train]</a:t>
            </a:r>
            <a:endParaRPr sz="44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400" dirty="0">
                <a:solidFill>
                  <a:srgbClr val="002060"/>
                </a:solidFill>
              </a:rPr>
              <a:t>clf = LogisticRegression(max_iter=600)</a:t>
            </a:r>
            <a:endParaRPr sz="44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400" dirty="0">
                <a:solidFill>
                  <a:srgbClr val="002060"/>
                </a:solidFill>
              </a:rPr>
              <a:t>clf.fit(X_train_emb, y_train)</a:t>
            </a:r>
            <a:endParaRPr sz="44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tx1"/>
                </a:solidFill>
              </a:rPr>
              <a:t>Why Logistic Regression?</a:t>
            </a:r>
            <a:endParaRPr sz="5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tx1"/>
                </a:solidFill>
              </a:rPr>
              <a:t>  • Embeddings create linearly separable clusters</a:t>
            </a:r>
            <a:endParaRPr sz="5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tx1"/>
                </a:solidFill>
              </a:rPr>
              <a:t>  • Simple classifier sufficient with good features</a:t>
            </a:r>
            <a:endParaRPr sz="5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tx1"/>
                </a:solidFill>
              </a:rPr>
              <a:t>  • Fast training (&lt;1 second)</a:t>
            </a:r>
            <a:endParaRPr sz="5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tx1"/>
                </a:solidFill>
              </a:rPr>
              <a:t>  • 80-20 train-test split (stratified by identity)</a:t>
            </a:r>
            <a:endParaRPr sz="5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5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B: Evaluate Recognition Accuracy (Q31)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850606"/>
            <a:ext cx="8520600" cy="42928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b="1" dirty="0">
                <a:solidFill>
                  <a:schemeClr val="tx1"/>
                </a:solidFill>
              </a:rPr>
              <a:t>Performance Metrics</a:t>
            </a:r>
            <a:r>
              <a:rPr lang="en" sz="4800" dirty="0">
                <a:solidFill>
                  <a:schemeClr val="tx1"/>
                </a:solidFill>
              </a:rPr>
              <a:t>:</a:t>
            </a:r>
            <a:endParaRPr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800" dirty="0">
                <a:solidFill>
                  <a:srgbClr val="002060"/>
                </a:solidFill>
              </a:rPr>
              <a:t>print(classification_report(y_test, y_pred))</a:t>
            </a:r>
            <a:endParaRPr sz="48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800" b="1" dirty="0">
                <a:solidFill>
                  <a:schemeClr val="tx1"/>
                </a:solidFill>
              </a:rPr>
              <a:t>Comparison Results:</a:t>
            </a:r>
            <a:endParaRPr sz="4800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lang="en"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lang="en"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800" b="1" dirty="0">
                <a:solidFill>
                  <a:schemeClr val="tx1"/>
                </a:solidFill>
              </a:rPr>
              <a:t>Key Findings:</a:t>
            </a:r>
            <a:endParaRPr sz="4800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800" dirty="0">
                <a:solidFill>
                  <a:schemeClr val="tx1"/>
                </a:solidFill>
              </a:rPr>
              <a:t>  ✓ 32% improvement in accuracy</a:t>
            </a:r>
            <a:endParaRPr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800" dirty="0">
                <a:solidFill>
                  <a:schemeClr val="tx1"/>
                </a:solidFill>
              </a:rPr>
              <a:t>  ✓ Deep learning robust to variations</a:t>
            </a:r>
            <a:endParaRPr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800" dirty="0">
                <a:solidFill>
                  <a:schemeClr val="tx1"/>
                </a:solidFill>
              </a:rPr>
              <a:t>  ✓ Confusion matrix shows clear identity separation</a:t>
            </a:r>
            <a:endParaRPr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4800" dirty="0">
                <a:solidFill>
                  <a:schemeClr val="tx1"/>
                </a:solidFill>
              </a:rPr>
              <a:t>  ✓ High F1-score indicates balanced performance</a:t>
            </a:r>
            <a:endParaRPr sz="4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8FBFA4F-C2F6-4CCB-F45E-8E38ABD1A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840441"/>
              </p:ext>
            </p:extLst>
          </p:nvPr>
        </p:nvGraphicFramePr>
        <p:xfrm>
          <a:off x="404036" y="1879570"/>
          <a:ext cx="4040373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621">
                  <a:extLst>
                    <a:ext uri="{9D8B030D-6E8A-4147-A177-3AD203B41FA5}">
                      <a16:colId xmlns:a16="http://schemas.microsoft.com/office/drawing/2014/main" val="2778768942"/>
                    </a:ext>
                  </a:extLst>
                </a:gridCol>
                <a:gridCol w="1136961">
                  <a:extLst>
                    <a:ext uri="{9D8B030D-6E8A-4147-A177-3AD203B41FA5}">
                      <a16:colId xmlns:a16="http://schemas.microsoft.com/office/drawing/2014/main" val="1580981908"/>
                    </a:ext>
                  </a:extLst>
                </a:gridCol>
                <a:gridCol w="1346791">
                  <a:extLst>
                    <a:ext uri="{9D8B030D-6E8A-4147-A177-3AD203B41FA5}">
                      <a16:colId xmlns:a16="http://schemas.microsoft.com/office/drawing/2014/main" val="3910533425"/>
                    </a:ext>
                  </a:extLst>
                </a:gridCol>
              </a:tblGrid>
              <a:tr h="299305">
                <a:tc>
                  <a:txBody>
                    <a:bodyPr/>
                    <a:lstStyle/>
                    <a:p>
                      <a:r>
                        <a:rPr lang="en" sz="1400" dirty="0">
                          <a:solidFill>
                            <a:schemeClr val="tx1"/>
                          </a:solidFill>
                        </a:rPr>
                        <a:t>Method 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40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F1-Score</a:t>
                      </a:r>
                    </a:p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573351"/>
                  </a:ext>
                </a:extLst>
              </a:tr>
              <a:tr h="496097">
                <a:tc>
                  <a:txBody>
                    <a:bodyPr/>
                    <a:lstStyle/>
                    <a:p>
                      <a:r>
                        <a:rPr lang="en" sz="1400" dirty="0">
                          <a:solidFill>
                            <a:schemeClr val="tx1"/>
                          </a:solidFill>
                        </a:rPr>
                        <a:t>HOG + LR 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400" dirty="0">
                          <a:solidFill>
                            <a:schemeClr val="tx1"/>
                          </a:solidFill>
                        </a:rPr>
                        <a:t>60% 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400" dirty="0">
                          <a:solidFill>
                            <a:schemeClr val="tx1"/>
                          </a:solidFill>
                        </a:rPr>
                        <a:t>0.59</a:t>
                      </a:r>
                    </a:p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481248"/>
                  </a:ext>
                </a:extLst>
              </a:tr>
              <a:tr h="496097">
                <a:tc>
                  <a:txBody>
                    <a:bodyPr/>
                    <a:lstStyle/>
                    <a:p>
                      <a:r>
                        <a:rPr lang="en" sz="1400" dirty="0">
                          <a:solidFill>
                            <a:schemeClr val="tx1"/>
                          </a:solidFill>
                        </a:rPr>
                        <a:t>MobileNetV2 + LR 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400" dirty="0">
                          <a:solidFill>
                            <a:schemeClr val="tx1"/>
                          </a:solidFill>
                        </a:rPr>
                        <a:t>92% 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400" dirty="0">
                          <a:solidFill>
                            <a:schemeClr val="tx1"/>
                          </a:solidFill>
                        </a:rPr>
                        <a:t>0.91</a:t>
                      </a:r>
                    </a:p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369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B: Generate Similarity Scores (Q32)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34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Cosine Similarity for Face Pairs: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3400" dirty="0">
                <a:solidFill>
                  <a:srgbClr val="002060"/>
                </a:solidFill>
              </a:rPr>
              <a:t>from sklearn.metrics.pairwise import cosine_similarity</a:t>
            </a:r>
            <a:endParaRPr sz="34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3400" dirty="0">
                <a:solidFill>
                  <a:srgbClr val="002060"/>
                </a:solidFill>
              </a:rPr>
              <a:t>sim_matrix = cosine_similarity(X_test_emb)</a:t>
            </a:r>
            <a:endParaRPr sz="34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3400" dirty="0">
                <a:solidFill>
                  <a:srgbClr val="002060"/>
                </a:solidFill>
              </a:rPr>
              <a:t>plt.figure(figsize=(8,6))</a:t>
            </a:r>
            <a:endParaRPr sz="34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3400" dirty="0">
                <a:solidFill>
                  <a:srgbClr val="002060"/>
                </a:solidFill>
              </a:rPr>
              <a:t>sns.heatmap(sim_matrix, cmap='coolwarm')</a:t>
            </a:r>
            <a:endParaRPr sz="34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3400" dirty="0">
                <a:solidFill>
                  <a:srgbClr val="002060"/>
                </a:solidFill>
              </a:rPr>
              <a:t>plt.title('Face Similarity Heatmap')</a:t>
            </a:r>
            <a:endParaRPr sz="3400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Interpretation: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Values close to 1: Same person (high similarity)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Values close to 0: Different people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Bright blocks = Same identity faces cluster together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Threshold &gt; 0.85 for same-person verification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37272" y="-9224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Part B: Bias, Diversity &amp; Dataset Quality (Q33)</a:t>
            </a:r>
            <a:endParaRPr dirty="0"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11700" y="480458"/>
            <a:ext cx="7875370" cy="4825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Bias Issues: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Celebrity-focused dataset doesn't represent general population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Performance may degrade on non-celebrities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Attribute imbalance (e.g., 83% 'No_Beard',77% 'Young')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Gender, age, ethnicity representation gaps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Diversity Concerns: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Limited age range (mostly young faces)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Styling variations not fully represented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Real-world conditions differ from celebrity photos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Quality Factors: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Lighting and pose variations still impact accuracy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Requires diverse training data for fairness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5600" dirty="0">
                <a:solidFill>
                  <a:schemeClr val="accent2"/>
                </a:solidFill>
              </a:rPr>
              <a:t>  • Need fairness audits across demographics</a:t>
            </a:r>
            <a:endParaRPr sz="56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30BCD2-319C-C508-FCD0-2EF868CDB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186" y="1096684"/>
            <a:ext cx="4158814" cy="39431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1502-8582-4CD0-F565-AC94799C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Conclusions &amp; Key Findings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161B1-F1EA-7BB8-B90F-5D43253B3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Summary</a:t>
            </a:r>
            <a:r>
              <a:rPr lang="en-GB" dirty="0">
                <a:solidFill>
                  <a:schemeClr val="accent2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Part A (Classical Methods):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  • HOG features work for controlled conditions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  • 60% accuracy with pose/lighting sensitivity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  • Fast but limited robustness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Part B (Deep Learning):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  • MobileNetV2 embeddings achieve 92% accuracy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  • 32% improvement over classical methods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  • Robust to lighting, pose, and expression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400" dirty="0">
                <a:solidFill>
                  <a:schemeClr val="accent2"/>
                </a:solidFill>
              </a:rPr>
              <a:t>  • Clear identity clustering in embedding space</a:t>
            </a:r>
          </a:p>
          <a:p>
            <a:pPr marL="139700" indent="0">
              <a:buNone/>
            </a:pP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ED029-8F62-2A03-7009-A0EB8C43557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accent2"/>
                </a:solidFill>
              </a:rPr>
              <a:t>Future Recommendations: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accent2"/>
                </a:solidFill>
              </a:rPr>
              <a:t>  ✓ Use larger, more diverse datasets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accent2"/>
                </a:solidFill>
              </a:rPr>
              <a:t>  ✓ Implement fairness audits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accent2"/>
                </a:solidFill>
              </a:rPr>
              <a:t>  ✓ Test real-world deployment scenarios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400" dirty="0">
                <a:solidFill>
                  <a:schemeClr val="accent2"/>
                </a:solidFill>
              </a:rPr>
              <a:t>  ✓ Explore lightweight models for mobile</a:t>
            </a:r>
          </a:p>
          <a:p>
            <a:pPr marL="13970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7556051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1113</Words>
  <Application>Microsoft Office PowerPoint</Application>
  <PresentationFormat>On-screen Show (16:9)</PresentationFormat>
  <Paragraphs>162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Celebrity Faces Recognition &amp; Feature Extraction</vt:lpstr>
      <vt:lpstr>Project Overview</vt:lpstr>
      <vt:lpstr>Part A: Load Images &amp; Face Detection (Q24)</vt:lpstr>
      <vt:lpstr>Part A: Crop &amp; Convert to Grayscale (Q25)</vt:lpstr>
      <vt:lpstr>Part A: Compute HOG Features (Q26)</vt:lpstr>
      <vt:lpstr>Part A: Landmarks &amp; Variations (Q27 &amp; Q28)</vt:lpstr>
      <vt:lpstr>Part B: MobileNetV2 Embeddings (Q29)</vt:lpstr>
      <vt:lpstr>Part B: Train Classifier on Embeddings (Q30)</vt:lpstr>
      <vt:lpstr>Part B: Evaluate Recognition Accuracy (Q31)</vt:lpstr>
      <vt:lpstr>Part B: Generate Similarity Scores (Q32)</vt:lpstr>
      <vt:lpstr>Part B: Bias, Diversity &amp; Dataset Quality (Q33)</vt:lpstr>
      <vt:lpstr>Conclusions &amp; Key 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Celebrity Faces Recognition &amp; Feature Extraction</dc:title>
  <dc:creator>JENINAH</dc:creator>
  <cp:lastModifiedBy>BUSINGYE JESSICA</cp:lastModifiedBy>
  <cp:revision>2</cp:revision>
  <dcterms:modified xsi:type="dcterms:W3CDTF">2025-11-21T08:49:16Z</dcterms:modified>
</cp:coreProperties>
</file>